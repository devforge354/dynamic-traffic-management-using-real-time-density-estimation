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B8CA6">
              <a:alpha val="15000"/>
            </a:srgbClr>
          </a:solidFill>
          <a:ln w="12700">
            <a:solidFill>
              <a:srgbClr val="4DC4E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F4A31B">
              <a:alpha val="12000"/>
            </a:srgbClr>
          </a:solidFill>
          <a:ln w="12700">
            <a:solidFill>
              <a:srgbClr val="F4A31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2377440" cy="3200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EMBEDDED SYSTEMS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Density-Based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D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IR Sensors and Adaptive Signal Scheduling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1480" y="3273552"/>
            <a:ext cx="5029200" cy="0"/>
          </a:xfrm>
          <a:prstGeom prst="line">
            <a:avLst/>
          </a:prstGeom>
          <a:noFill/>
          <a:ln w="1905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Nishit Gupta (24BEC034)   |   Riti Joshi (24BCS120)   |   Namita Wayal (24BCS081)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Prof. Sibasankar Padhy  •  Academic Year 2024–2025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26680" y="1234440"/>
            <a:ext cx="777240" cy="186537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371600"/>
            <a:ext cx="502920" cy="502920"/>
          </a:xfrm>
          <a:prstGeom prst="ellipse">
            <a:avLst/>
          </a:prstGeom>
          <a:solidFill>
            <a:srgbClr val="E74C3C">
              <a:alpha val="4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947672"/>
            <a:ext cx="502920" cy="502920"/>
          </a:xfrm>
          <a:prstGeom prst="ellipse">
            <a:avLst/>
          </a:prstGeom>
          <a:solidFill>
            <a:srgbClr val="F39C12">
              <a:alpha val="4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2523744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097280"/>
            <a:ext cx="640080" cy="640080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Signal Timers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use rigid, pre-programmed cycles that never change regardless of actual traffic conditions.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0120"/>
            <a:ext cx="265176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097280"/>
            <a:ext cx="640080" cy="640080"/>
          </a:xfrm>
          <a:prstGeom prst="ellipse">
            <a:avLst/>
          </a:prstGeom>
          <a:solidFill>
            <a:srgbClr val="F39C12">
              <a:alpha val="8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64408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Waste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low-traffic hours, signals still follow the same fixed pattern, causing unnecessary idling and fuel waste.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960120"/>
            <a:ext cx="2651760" cy="109728"/>
          </a:xfrm>
          <a:prstGeom prst="rect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097280"/>
            <a:ext cx="640080" cy="640080"/>
          </a:xfrm>
          <a:prstGeom prst="ellipse">
            <a:avLst/>
          </a:prstGeom>
          <a:solidFill>
            <a:srgbClr val="F4A31B">
              <a:alpha val="80000"/>
            </a:srgbClr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99048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Backlog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lanes are forced to wait their turn, creating severe congestion while lighter lanes get equal green time.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2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traffic signals fail to adapt — causing urban congestion, delays, and inefficiency.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4DC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32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signal system responding to real-time vehicle density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4DC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Two-sensor setup per lane to detect queue level and arrival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4DC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algorithm for fair green signal time allocation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4DC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932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factor ensures no lane is indefinitely starved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4DC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display for live system status and monitoring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38328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4DC4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Red → Green → Yellow transition sequence for safety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868680"/>
            <a:ext cx="0" cy="3749040"/>
          </a:xfrm>
          <a:prstGeom prst="line">
            <a:avLst/>
          </a:prstGeom>
          <a:noFill/>
          <a:ln w="12700">
            <a:solidFill>
              <a:srgbClr val="1B8CA6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91440" cy="1737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051560"/>
            <a:ext cx="457200" cy="3200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0698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(Arduino / 8051)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61848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&amp; control unit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91440" cy="1737360"/>
          </a:xfrm>
          <a:prstGeom prst="rect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051560"/>
            <a:ext cx="457200" cy="320040"/>
          </a:xfrm>
          <a:prstGeom prst="rect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0698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61848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lane — detect vehicle presence and arrival (S1 near, S2 far)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60120"/>
            <a:ext cx="91440" cy="173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051560"/>
            <a:ext cx="4572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10698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/ Y / 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5352" y="161848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 lane represent Red, Yellow, Green signal lights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26080"/>
            <a:ext cx="91440" cy="173736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3017520"/>
            <a:ext cx="457200" cy="32004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5844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status: active lane, countdown, density, next lane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26080"/>
            <a:ext cx="91440" cy="173736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3017520"/>
            <a:ext cx="457200" cy="3200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64992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PCB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64992" y="35844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assembly platform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26080"/>
            <a:ext cx="91440" cy="1737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3017520"/>
            <a:ext cx="45720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×1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5352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DC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45352" y="35844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microcontroller and all peripherals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Level Detection (S1 + S2 Sensor States)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303520" cy="1463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S1 (Near)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S2 (Far)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Queue 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No vehicles in the lane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Small queue near the signal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Long queue extending backward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8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897880" y="822960"/>
            <a:ext cx="2926080" cy="1783080"/>
          </a:xfrm>
          <a:prstGeom prst="rect">
            <a:avLst/>
          </a:prstGeom>
          <a:solidFill>
            <a:srgbClr val="0A2840"/>
          </a:solidFill>
          <a:ln w="25400">
            <a:solidFill>
              <a:srgbClr val="F4A3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at S2 ÷ Time Window (10s)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rate = lane filling fast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97880" y="2926080"/>
            <a:ext cx="2926080" cy="1783080"/>
          </a:xfrm>
          <a:prstGeom prst="rect">
            <a:avLst/>
          </a:prstGeom>
          <a:solidFill>
            <a:srgbClr val="0A2840"/>
          </a:solidFill>
          <a:ln w="2540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last green signal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to 0 when lane gets green turn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" y="27432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lanes (L1, L2, L3) each have a near sensor (S1) and a far sensor (S2). Sensor readings are binary — logic 1 = vehicle detected.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3566160"/>
            <a:ext cx="5029200" cy="301752"/>
          </a:xfrm>
          <a:prstGeom prst="rect">
            <a:avLst/>
          </a:prstGeom>
          <a:solidFill>
            <a:srgbClr val="0A284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356616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C4E0"/>
                </a:solidFill>
              </a:rPr>
              <a:t>L1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828800" y="3602736"/>
            <a:ext cx="228600" cy="228600"/>
          </a:xfrm>
          <a:prstGeom prst="ellipse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83080" y="360273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566160" y="3602736"/>
            <a:ext cx="228600" cy="2286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20440" y="360273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S1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983480" y="3566160"/>
            <a:ext cx="0" cy="30175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931920"/>
            <a:ext cx="5029200" cy="301752"/>
          </a:xfrm>
          <a:prstGeom prst="rect">
            <a:avLst/>
          </a:prstGeom>
          <a:solidFill>
            <a:srgbClr val="0A284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93192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C4E0"/>
                </a:solidFill>
              </a:rPr>
              <a:t>L2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28800" y="3968496"/>
            <a:ext cx="228600" cy="228600"/>
          </a:xfrm>
          <a:prstGeom prst="ellipse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83080" y="396849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S2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566160" y="3968496"/>
            <a:ext cx="228600" cy="2286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20440" y="396849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S1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983480" y="3931920"/>
            <a:ext cx="0" cy="30175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4297680"/>
            <a:ext cx="5029200" cy="301752"/>
          </a:xfrm>
          <a:prstGeom prst="rect">
            <a:avLst/>
          </a:prstGeom>
          <a:solidFill>
            <a:srgbClr val="0A284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7472" y="4297680"/>
            <a:ext cx="457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C4E0"/>
                </a:solidFill>
              </a:rPr>
              <a:t>L3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828800" y="4334256"/>
            <a:ext cx="228600" cy="228600"/>
          </a:xfrm>
          <a:prstGeom prst="ellipse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83080" y="433425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S2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566160" y="4334256"/>
            <a:ext cx="228600" cy="2286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20440" y="433425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S1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983480" y="4297680"/>
            <a:ext cx="0" cy="30175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554480" y="4736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31B"/>
                </a:solidFill>
              </a:rPr>
              <a:t>← FAR  •  S2 (Arrival Rate)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291840" y="4736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C4E0"/>
                </a:solidFill>
              </a:rPr>
              <a:t>S1 (Queue) •  NEAR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0D1B2A"/>
          </a:solidFill>
          <a:ln w="2540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b="1" dirty="0">
                <a:solidFill>
                  <a:srgbClr val="4D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 =  (Queue Level × 5)  +  (Arrival Rate × 2)  +  Waiting Time ×2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274320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Level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1965960"/>
            <a:ext cx="685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9659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× 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clear waiting vehicles 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74520"/>
            <a:ext cx="2743200" cy="91440"/>
          </a:xfrm>
          <a:prstGeom prst="rect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1965960"/>
            <a:ext cx="685800" cy="347472"/>
          </a:xfrm>
          <a:prstGeom prst="rect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9659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×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congestion before it builds 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874520"/>
            <a:ext cx="2743200" cy="914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01000" y="1965960"/>
            <a:ext cx="685800" cy="3474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19659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×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— prevents indefinite lane starvation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Calculation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11880"/>
          <a:ext cx="5486400" cy="1371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Queue Level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Arrival 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Wait (s)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L1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0.5 v/s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26.0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L2 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0.8 v/s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46.6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L3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0.3 v/s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30.6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320040" y="5029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2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L2 wins despite lower queue — its long wait time elevated the score. Fairness in action!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3291840"/>
            <a:ext cx="2788920" cy="1691640"/>
          </a:xfrm>
          <a:prstGeom prst="rect">
            <a:avLst/>
          </a:prstGeom>
          <a:solidFill>
            <a:srgbClr val="0D1B2A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26480" y="3337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Green Time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26480" y="37490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0  →  10 seconds
</a:t>
            </a:r>
            <a:r>
              <a:rPr lang="en-US" sz="1200" dirty="0">
                <a:solidFill>
                  <a:srgbClr val="FD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1  →  15 seconds
</a:t>
            </a:r>
            <a:r>
              <a:rPr lang="en-US" sz="1200" dirty="0">
                <a:solidFill>
                  <a:srgbClr val="4D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2  →  20 seconds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TRANSITION &amp; OPERATION 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3520440"/>
          </a:xfrm>
          <a:prstGeom prst="rect">
            <a:avLst/>
          </a:prstGeom>
          <a:solidFill>
            <a:srgbClr val="0A284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914400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Phase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240280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lane gets green.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pass for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green duration.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82880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C4E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50592" y="822960"/>
            <a:ext cx="1965960" cy="3520440"/>
          </a:xfrm>
          <a:prstGeom prst="rect">
            <a:avLst/>
          </a:prstGeom>
          <a:solidFill>
            <a:srgbClr val="0A2840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0672" y="914400"/>
            <a:ext cx="685800" cy="6858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Phase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switches to yellow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2–3 seconds to warn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change.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16552" y="1188720"/>
            <a:ext cx="182880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C4E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26864" y="822960"/>
            <a:ext cx="1965960" cy="3520440"/>
          </a:xfrm>
          <a:prstGeom prst="rect">
            <a:avLst/>
          </a:prstGeom>
          <a:solidFill>
            <a:srgbClr val="0A2840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6944" y="914400"/>
            <a:ext cx="685800" cy="685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18304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ALL-RED Phase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240280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lanes show red for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 to clear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safely.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92824" y="1188720"/>
            <a:ext cx="182880" cy="0"/>
          </a:xfrm>
          <a:prstGeom prst="line">
            <a:avLst/>
          </a:prstGeom>
          <a:noFill/>
          <a:ln w="25400">
            <a:solidFill>
              <a:srgbClr val="1B8C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C4E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03136" y="822960"/>
            <a:ext cx="1965960" cy="3520440"/>
          </a:xfrm>
          <a:prstGeom prst="rect">
            <a:avLst/>
          </a:prstGeom>
          <a:solidFill>
            <a:srgbClr val="0A2840"/>
          </a:solidFill>
          <a:ln w="2540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43216" y="914400"/>
            <a:ext cx="685800" cy="6858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94576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12864" y="2240280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recalculates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scores 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next lane.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0A284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5371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D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sensors   |   2. Compute queue levels   |   3. Calc arrival rates   |   4. Update wait timers   |   5. Compute scores   |   6. Select highest   |   7. Assign green time   |   8. Yellow → All-Red   |   9. Reset timer → Repeat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DISPLAY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Signal Status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840480" cy="1371600"/>
          </a:xfrm>
          <a:prstGeom prst="rect">
            <a:avLst/>
          </a:prstGeom>
          <a:solidFill>
            <a:srgbClr val="0A1628"/>
          </a:solidFill>
          <a:ln w="2540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3566160" cy="1097280"/>
          </a:xfrm>
          <a:prstGeom prst="rect">
            <a:avLst/>
          </a:prstGeom>
          <a:solidFill>
            <a:srgbClr val="1A3F1A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F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LN:B   T:12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F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0   2  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LN:B = Lane B active | T:12s remaining | Q = density per lane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Screen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840480" cy="1371600"/>
          </a:xfrm>
          <a:prstGeom prst="rect">
            <a:avLst/>
          </a:prstGeom>
          <a:solidFill>
            <a:srgbClr val="0A1628"/>
          </a:solidFill>
          <a:ln w="2540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417320"/>
            <a:ext cx="3566160" cy="1097280"/>
          </a:xfrm>
          <a:prstGeom prst="rect">
            <a:avLst/>
          </a:prstGeom>
          <a:solidFill>
            <a:srgbClr val="1A3F1A"/>
          </a:solidFill>
          <a:ln w="12700">
            <a:solidFill>
              <a:srgbClr val="2E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F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TRAFFIC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F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788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for 2 seconds on power-on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61188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active lane and countdown timer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traffic density (Q-level) for all 3 lanes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between screens every 3–4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to transition screen during signal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splash screen on power-on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OBSERVATIONS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143000"/>
          </a:xfrm>
          <a:prstGeom prst="rect">
            <a:avLst/>
          </a:prstGeom>
          <a:solidFill>
            <a:srgbClr val="0A284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9601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correctly identified the most congested lane in all test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143000"/>
          </a:xfrm>
          <a:prstGeom prst="rect">
            <a:avLst/>
          </a:prstGeom>
          <a:solidFill>
            <a:srgbClr val="0A284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68112" y="9601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green time allocation reduced unnecessary waiting for low-density lanes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4160520" cy="1143000"/>
          </a:xfrm>
          <a:prstGeom prst="rect">
            <a:avLst/>
          </a:prstGeom>
          <a:solidFill>
            <a:srgbClr val="0A2840"/>
          </a:solidFill>
          <a:ln w="1905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1460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228600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component prevented repeated lane skipping — fairness maintained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160520" cy="1143000"/>
          </a:xfrm>
          <a:prstGeom prst="rect">
            <a:avLst/>
          </a:prstGeom>
          <a:solidFill>
            <a:srgbClr val="0A2840"/>
          </a:solidFill>
          <a:ln w="19050">
            <a:solidFill>
              <a:srgbClr val="1B8C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514600"/>
            <a:ext cx="502920" cy="50292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8112" y="228600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and all-red phases executed correctly — no simultaneous green across lanes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4160520" cy="1143000"/>
          </a:xfrm>
          <a:prstGeom prst="rect">
            <a:avLst/>
          </a:prstGeom>
          <a:solidFill>
            <a:srgbClr val="0A2840"/>
          </a:solidFill>
          <a:ln w="19050">
            <a:solidFill>
              <a:srgbClr val="F4A3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840480"/>
            <a:ext cx="502920" cy="502920"/>
          </a:xfrm>
          <a:prstGeom prst="ellipse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3272" y="361188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displayed active lane, countdown, queue levels, and next lane accurately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160520" cy="1143000"/>
          </a:xfrm>
          <a:prstGeom prst="rect">
            <a:avLst/>
          </a:prstGeom>
          <a:solidFill>
            <a:srgbClr val="0A2840"/>
          </a:solidFill>
          <a:ln w="19050">
            <a:solidFill>
              <a:srgbClr val="F4A3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840480"/>
            <a:ext cx="502920" cy="502920"/>
          </a:xfrm>
          <a:prstGeom prst="ellipse">
            <a:avLst/>
          </a:prstGeom>
          <a:solidFill>
            <a:srgbClr val="F4A31B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8112" y="361188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rate detection via S2 allowed anticipation of growing congestion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vs CONVENTIONAL SYSTEMS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402336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Conventional System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Proposed Smart System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Signal Timing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0000"/>
                          </a:solidFill>
                        </a:rPr>
                        <a:t>Fixed, pre-programmed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6E84"/>
                          </a:solidFill>
                        </a:rPr>
                        <a:t>Dynamic, real-time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Congestion Handling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0000"/>
                          </a:solidFill>
                        </a:rPr>
                        <a:t>Ignores actual traffic density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6E84"/>
                          </a:solidFill>
                        </a:rPr>
                        <a:t>Prioritises denser lanes automatically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Fairness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0000"/>
                          </a:solidFill>
                        </a:rPr>
                        <a:t>Rigid round-robin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6E84"/>
                          </a:solidFill>
                        </a:rPr>
                        <a:t>Weighted score with waiting time factor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Starvation Prevention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0000"/>
                          </a:solidFill>
                        </a:rPr>
                        <a:t>Not guaranteed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6E84"/>
                          </a:solidFill>
                        </a:rPr>
                        <a:t>Built into the priority formula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Hardware Complexity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0000"/>
                          </a:solidFill>
                        </a:rPr>
                        <a:t>Simple timers only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6E84"/>
                          </a:solidFill>
                        </a:rPr>
                        <a:t>Sensors + microcontroller logic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Display Feedback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000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6E84"/>
                          </a:solidFill>
                        </a:rPr>
                        <a:t>16×2 LCD with live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560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26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system outperforms conventional signals across every dimension — efficiency, fairness, and transparency.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6E84"/>
          </a:solidFill>
          <a:ln w="12700">
            <a:solidFill>
              <a:srgbClr val="126E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3291840"/>
          </a:xfrm>
          <a:prstGeom prst="rect">
            <a:avLst/>
          </a:prstGeom>
          <a:solidFill>
            <a:srgbClr val="0A284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 assume single-lane; cannot count vehicles in multi-lane wide roads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pedestrian signals or emergency vehicle priority override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factors (rain, dust, bright light) may affect IR accuracy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arrival rate window may not adapt well to sudden traffic bursts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41148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023360" cy="3291840"/>
          </a:xfrm>
          <a:prstGeom prst="rect">
            <a:avLst/>
          </a:prstGeom>
          <a:solidFill>
            <a:srgbClr val="0A2840"/>
          </a:solidFill>
          <a:ln w="1905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258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computer vision for accurate vehicle counting across lanes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detection module (ambulance / fire truck override)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for city-wide adaptive traffic coordination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historical patterns for preemptive signal adjustment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push-button integration for safe road-crossing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822960"/>
            <a:ext cx="0" cy="3703320"/>
          </a:xfrm>
          <a:prstGeom prst="line">
            <a:avLst/>
          </a:prstGeom>
          <a:noFill/>
          <a:ln w="12700">
            <a:solidFill>
              <a:srgbClr val="1B8CA6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8CA6">
              <a:alpha val="12000"/>
            </a:srgbClr>
          </a:solidFill>
          <a:ln w="12700">
            <a:solidFill>
              <a:srgbClr val="1B8CA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4A31B">
              <a:alpha val="10000"/>
            </a:srgbClr>
          </a:solidFill>
          <a:ln w="12700">
            <a:solidFill>
              <a:srgbClr val="F4A31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D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Density-Based Traffic Control System demonstrates that a low-cost, adaptive traffic management solution can be built using IR sensors and a microcontroller.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182880" cy="0"/>
          </a:xfrm>
          <a:prstGeom prst="line">
            <a:avLst/>
          </a:prstGeom>
          <a:noFill/>
          <a:ln w="38100">
            <a:solidFill>
              <a:srgbClr val="1B8C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20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fixed-time cycles with a congestion score-driven algorithm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182880" cy="0"/>
          </a:xfrm>
          <a:prstGeom prst="line">
            <a:avLst/>
          </a:prstGeom>
          <a:noFill/>
          <a:ln w="3810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95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queue level, arrival rate, and waiting time for fair signal allocation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962656"/>
            <a:ext cx="182880" cy="0"/>
          </a:xfrm>
          <a:prstGeom prst="line">
            <a:avLst/>
          </a:prstGeom>
          <a:noFill/>
          <a:ln w="38100">
            <a:solidFill>
              <a:srgbClr val="F4A3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7121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congested lanes are cleared first; lighter lanes guaranteed service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438144"/>
            <a:ext cx="182880" cy="0"/>
          </a:xfrm>
          <a:prstGeom prst="line">
            <a:avLst/>
          </a:prstGeom>
          <a:noFill/>
          <a:ln w="38100">
            <a:solidFill>
              <a:srgbClr val="F4A3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4670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interface makes decision-making transparent for live demonstration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913632"/>
            <a:ext cx="18288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8221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foundation for smart city traffic management solutions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663440"/>
            <a:ext cx="3657600" cy="0"/>
          </a:xfrm>
          <a:prstGeom prst="line">
            <a:avLst/>
          </a:prstGeom>
          <a:noFill/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Nishit Gupta  •  Riti Joshi  •  Namita Wayal  |  Embedded Systems, 2024–25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1107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Density-Based Traffic Control System</dc:title>
  <dc:subject>PptxGenJS Presentation</dc:subject>
  <dc:creator>PptxGenJS</dc:creator>
  <cp:lastModifiedBy>Nishit Gupta</cp:lastModifiedBy>
  <cp:revision>2</cp:revision>
  <dcterms:created xsi:type="dcterms:W3CDTF">2026-04-13T04:56:59Z</dcterms:created>
  <dcterms:modified xsi:type="dcterms:W3CDTF">2026-04-13T08:38:41Z</dcterms:modified>
</cp:coreProperties>
</file>